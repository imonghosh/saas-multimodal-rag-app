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66" r:id="rId7"/>
    <p:sldId id="289" r:id="rId8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54433ce18_0_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b54433ce18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55bc9b2bb_2_2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g3b55bc9b2bb_2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40" name="Google Shape;40;p6"/>
          <p:cNvSpPr txBox="1"/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41" name="Google Shape;41;p6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7" name="Google Shape;47;p7"/>
          <p:cNvSpPr txBox="1"/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8" name="Google Shape;48;p7"/>
          <p:cNvSpPr txBox="1"/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9" name="Google Shape;49;p7"/>
          <p:cNvSpPr txBox="1"/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50" name="Google Shape;50;p7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2" name="Google Shape;62;p9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9" name="Google Shape;69;p10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/>
        </p:txBody>
      </p:sp>
      <p:sp>
        <p:nvSpPr>
          <p:cNvPr id="94" name="Google Shape;94;p15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95" name="Google Shape;95;p1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/>
        </p:txBody>
      </p:sp>
      <p:sp>
        <p:nvSpPr>
          <p:cNvPr id="98" name="Google Shape;98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/>
        </p:txBody>
      </p:sp>
      <p:sp>
        <p:nvSpPr>
          <p:cNvPr id="109" name="Google Shape;109;p19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110" name="Google Shape;110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113" name="Google Shape;113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/>
        </p:txBody>
      </p:sp>
      <p:sp>
        <p:nvSpPr>
          <p:cNvPr id="117" name="Google Shape;117;p21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/>
        </p:txBody>
      </p:sp>
      <p:sp>
        <p:nvSpPr>
          <p:cNvPr id="118" name="Google Shape;118;p21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/>
        </p:txBody>
      </p:sp>
      <p:sp>
        <p:nvSpPr>
          <p:cNvPr id="125" name="Google Shape;125;p23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–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–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»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75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1329473" y="1565244"/>
            <a:ext cx="6357600" cy="41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539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Satellite-Based Precipitation Nowcasting with Deep Learning</a:t>
            </a:r>
            <a:endParaRPr sz="1800" b="1" i="0" u="none" strike="noStrike" cap="none">
              <a:solidFill>
                <a:srgbClr val="0B539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4" name="Google Shape;134;p25" title="images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3409650" cy="82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>
            <a:off x="0" y="2878173"/>
            <a:ext cx="7872971" cy="2265327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283050" y="3278300"/>
            <a:ext cx="39246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Date:  30</a:t>
            </a:r>
            <a:r>
              <a:rPr lang="en-US" sz="1100" b="1" baseline="300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January, 2026</a:t>
            </a:r>
            <a:b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Presenters: </a:t>
            </a: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</a:t>
            </a: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Ishmita Basu                </a:t>
            </a: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(25077</a:t>
            </a: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9)</a:t>
            </a:r>
            <a:b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                Imon Kalyan Ghosh    (250780)</a:t>
            </a:r>
            <a:b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and Knowledge Engineering</a:t>
            </a:r>
            <a:b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Faculty of Computer Science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7" name="Google Shape;137;p25" title="Slide_07_Institut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45850" y="2878047"/>
            <a:ext cx="3198150" cy="2265327"/>
          </a:xfrm>
          <a:prstGeom prst="rect">
            <a:avLst/>
          </a:prstGeom>
          <a:solidFill>
            <a:srgbClr val="3D85C6"/>
          </a:solidFill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2615967" y="2013845"/>
            <a:ext cx="3962575" cy="41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B539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Understanding Global MetNet and Experimental Insights</a:t>
            </a:r>
            <a:endParaRPr lang="en-US" sz="900" b="1" i="0" u="none" strike="noStrike" cap="none">
              <a:solidFill>
                <a:srgbClr val="0B539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 i="0" u="none" strike="noStrike" cap="none">
              <a:solidFill>
                <a:srgbClr val="0B539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27"/>
          <p:cNvCxnSpPr/>
          <p:nvPr/>
        </p:nvCxnSpPr>
        <p:spPr>
          <a:xfrm>
            <a:off x="-5100" y="498000"/>
            <a:ext cx="91542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5" name="Google Shape;155;p27" title="images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25" y="0"/>
            <a:ext cx="1921300" cy="4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6357736" y="197848"/>
            <a:ext cx="214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Satellite-Based Precipitation Nowcasting with Deep Learning</a:t>
            </a:r>
            <a:endParaRPr sz="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27"/>
          <p:cNvSpPr txBox="1"/>
          <p:nvPr>
            <p:ph type="sldNum" idx="12"/>
          </p:nvPr>
        </p:nvSpPr>
        <p:spPr>
          <a:xfrm>
            <a:off x="8832526" y="46498"/>
            <a:ext cx="2097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73"/>
              <a:buNone/>
            </a:pPr>
            <a:fld id="{00000000-1234-1234-1234-123412341234}" type="slidenum">
              <a:rPr lang="en-US" sz="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9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2539780" y="31097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Section I – Introduction and Motivation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2531503" y="3337304"/>
            <a:ext cx="3768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Precipitation Nowcasting Matters?</a:t>
            </a:r>
            <a:endParaRPr sz="1400" b="1" i="0" u="none" strike="noStrike" cap="none">
              <a:solidFill>
                <a:srgbClr val="3C78D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b="1">
              <a:solidFill>
                <a:srgbClr val="3C78D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298874" y="3806507"/>
            <a:ext cx="8416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4A86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Life-critical applications</a:t>
            </a:r>
            <a:r>
              <a:rPr lang="en-US" sz="1200">
                <a:solidFill>
                  <a:srgbClr val="4A86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b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Essential for protecting lives and livelihoods in flood-prone regions, especially in vulnerable communities exposed to rapidly developing storms</a:t>
            </a:r>
            <a:endParaRPr sz="1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2622828" y="2090916"/>
            <a:ext cx="376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</a:t>
            </a:r>
            <a:r>
              <a:rPr lang="en-US" b="1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 is Precipitation Nowcasting </a:t>
            </a:r>
            <a:r>
              <a:rPr lang="en-US" sz="1400" b="1" i="0" u="none" strike="noStrike" cap="none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?</a:t>
            </a:r>
            <a:endParaRPr sz="1400" b="1" i="0" u="none" strike="noStrike" cap="none">
              <a:solidFill>
                <a:srgbClr val="3C78D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2307975" y="2659362"/>
            <a:ext cx="439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Short-term prediction of rainfall or snow, up to a few hours ahead</a:t>
            </a:r>
            <a:endParaRPr sz="12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2622828" y="809491"/>
            <a:ext cx="376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</a:t>
            </a:r>
            <a:r>
              <a:rPr lang="en-US" b="1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 is Traditional Nowcasting </a:t>
            </a:r>
            <a:r>
              <a:rPr lang="en-US" sz="1400" b="1" i="0" u="none" strike="noStrike" cap="none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?</a:t>
            </a:r>
            <a:endParaRPr sz="1400" b="1" i="0" u="none" strike="noStrike" cap="none">
              <a:solidFill>
                <a:srgbClr val="3C78D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1498450" y="1327425"/>
            <a:ext cx="657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Nowcasting refers to the estimation of the current and very near-future state of a variable using incomplete, high-frequency, or partially observed data available in real time.</a:t>
            </a:r>
            <a:endParaRPr sz="12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35"/>
          <p:cNvCxnSpPr/>
          <p:nvPr/>
        </p:nvCxnSpPr>
        <p:spPr>
          <a:xfrm>
            <a:off x="-5100" y="498000"/>
            <a:ext cx="91542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55" name="Google Shape;255;p35" title="images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25" y="0"/>
            <a:ext cx="1921300" cy="4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5"/>
          <p:cNvSpPr txBox="1"/>
          <p:nvPr/>
        </p:nvSpPr>
        <p:spPr>
          <a:xfrm>
            <a:off x="6357736" y="197848"/>
            <a:ext cx="214482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Satellite-Based Precipitation Nowcasting with Deep Learning</a:t>
            </a:r>
            <a:endParaRPr sz="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35"/>
          <p:cNvSpPr txBox="1"/>
          <p:nvPr>
            <p:ph type="sldNum" idx="12"/>
          </p:nvPr>
        </p:nvSpPr>
        <p:spPr>
          <a:xfrm>
            <a:off x="8768823" y="46498"/>
            <a:ext cx="273403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00"/>
              <a:buNone/>
            </a:pPr>
            <a:fld id="{00000000-1234-1234-1234-123412341234}" type="slidenum">
              <a:rPr lang="en-US" sz="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9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375150" y="3346500"/>
            <a:ext cx="82293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 panose="020F0502020204030204"/>
              <a:buChar char="•"/>
            </a:pPr>
            <a:r>
              <a:rPr lang="en-US" sz="1200" b="1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Global coverage via multi-satellite fusion:</a:t>
            </a:r>
            <a:r>
              <a:rPr lang="en-US" sz="120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br>
              <a:rPr lang="en-US" sz="120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Inputs from 7 geostationary satellites covering Europe, Africa, Asia, the Americas, and oceans are combined to provide global coverage</a:t>
            </a:r>
            <a:b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 panose="020F0502020204030204"/>
              <a:buChar char="•"/>
            </a:pPr>
            <a:r>
              <a:rPr lang="en-US" sz="1200" b="1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Operational time characteristics:</a:t>
            </a:r>
            <a:r>
              <a:rPr lang="en-US" sz="120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br>
              <a:rPr lang="en-US" sz="120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Mosaics generated every 30 minutes, with ~1 hour total latency (data delivery + processing)</a:t>
            </a:r>
            <a:endParaRPr sz="12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2551443" y="615012"/>
            <a:ext cx="404111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C78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Geostationary Satellite Mosaics</a:t>
            </a:r>
            <a:endParaRPr sz="1400" b="1">
              <a:solidFill>
                <a:srgbClr val="3C78D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273825" y="1062951"/>
            <a:ext cx="6596343" cy="21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 txBox="1"/>
          <p:nvPr/>
        </p:nvSpPr>
        <p:spPr>
          <a:xfrm>
            <a:off x="2539774" y="31100"/>
            <a:ext cx="363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Section I</a:t>
            </a:r>
            <a:r>
              <a:rPr lang="en-US" b="1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400" b="1" i="0" u="none" strike="noStrike" cap="none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– </a:t>
            </a:r>
            <a:r>
              <a:rPr lang="en-US" b="1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 and Methodology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8" name="Google Shape;528;p58"/>
          <p:cNvCxnSpPr/>
          <p:nvPr/>
        </p:nvCxnSpPr>
        <p:spPr>
          <a:xfrm>
            <a:off x="-5100" y="498000"/>
            <a:ext cx="91542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29" name="Google Shape;529;p58" title="images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25" y="0"/>
            <a:ext cx="1921300" cy="4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8"/>
          <p:cNvSpPr txBox="1"/>
          <p:nvPr/>
        </p:nvSpPr>
        <p:spPr>
          <a:xfrm>
            <a:off x="6357736" y="197848"/>
            <a:ext cx="214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Satellite-Based Precipitation Nowcasting with Deep Learning</a:t>
            </a:r>
            <a:endParaRPr sz="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1" name="Google Shape;531;p58"/>
          <p:cNvSpPr txBox="1"/>
          <p:nvPr>
            <p:ph type="sldNum" idx="12"/>
          </p:nvPr>
        </p:nvSpPr>
        <p:spPr>
          <a:xfrm>
            <a:off x="8776975" y="197850"/>
            <a:ext cx="2577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00"/>
              <a:buNone/>
            </a:pPr>
            <a:fld id="{00000000-1234-1234-1234-123412341234}" type="slidenum">
              <a:rPr lang="en-US" sz="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9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2" name="Google Shape;532;p58"/>
          <p:cNvSpPr txBox="1"/>
          <p:nvPr/>
        </p:nvSpPr>
        <p:spPr>
          <a:xfrm>
            <a:off x="7086075" y="4122600"/>
            <a:ext cx="1690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QUESTIONS?</a:t>
            </a:r>
            <a:endParaRPr i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3" name="Google Shape;533;p58"/>
          <p:cNvSpPr txBox="1"/>
          <p:nvPr/>
        </p:nvSpPr>
        <p:spPr>
          <a:xfrm>
            <a:off x="2261623" y="2100275"/>
            <a:ext cx="4494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1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THANK YOU!!</a:t>
            </a:r>
            <a:endParaRPr sz="4800" i="1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/>
      </p:transition>
    </mc:Choice>
    <mc:Fallback>
      <p:transition spd="med">
        <p:push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</Words>
  <Application>WPS Presentation</Application>
  <PresentationFormat/>
  <Paragraphs>51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Georgia</vt:lpstr>
      <vt:lpstr>Courier New</vt:lpstr>
      <vt:lpstr>Microsoft YaHei</vt:lpstr>
      <vt:lpstr>Arial Unicode MS</vt:lpstr>
      <vt:lpstr>Office Theme</vt:lpstr>
      <vt:lpstr>Simple Light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Imon Ghosh</cp:lastModifiedBy>
  <cp:revision>1</cp:revision>
  <dcterms:created xsi:type="dcterms:W3CDTF">2026-02-05T19:06:27Z</dcterms:created>
  <dcterms:modified xsi:type="dcterms:W3CDTF">2026-02-05T19:06:27Z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4C67D0BEC5BB453DA516138824F6E326_12</vt:lpwstr>
  </property>
  <property fmtid="{D5CDD505-2E9C-101B-9397-08002B2CF9AE}" pid="3" name="KSOProductBuildVer">
    <vt:lpwstr>1033-12.2.0.23196</vt:lpwstr>
  </property>
</Properties>
</file>